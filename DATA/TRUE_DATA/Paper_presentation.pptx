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LiDAR has flooded archaeology with elevation data far beyond what experts can scan by hand. This paper builds an end-to-end pipeline that hunts hillforts across 180,000 km² of Europe. The talk is organized around that pipeline — how they built it, stage by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framing of why a pipeline is needed. LiDAR coverage has exploded into a Big Data problem, but hillforts are vanishingly rare — under 0.05% of land. England alone is about a million patches. No expert can eyeball that, so the whole task has to be automated end-to-end. Keep this short — the workflow is the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for the whole talk. The pipeline has three phases. TRAIN: turn known hillforts into a labelled image set and train a CNN, with a self-cleaning step. DETECT: slide that CNN across an entire country and cluster the hits into candidate sites. VERIFY: hand the ranked candidates to an expert who confirms them in GIS. The next slides zoom into each phase. Everything downstream is just these three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A, step one — turn a point database into an image dataset. The Atlas of Hillforts gives centre coordinates but no shapes, so they cut a fixed 768m vignette around each point and treat it as a labelled image: 'is there a hillfort here, yes or no?' That reframes detection as plain image classification. After dropping destroyed and built-over sites, 579 positives remain, paired with 20,000 random land patches as negatives. The one non-obvious choice: feed the raw DEM straight in with min/max normalization — no hillshade — because their earlier work showed it trains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A, step two — the training loop itself, and the one clever trick inside it. Start from a ConvNeXt pretrained on ImageNet, fine-tune 50 epochs with flip/crop augmentation and a weighted label-smoothing loss for the class imbalance. Then pseudo-labelling: run the trained model back over its own training data and delete the contradictions — hillforts it scores below 85%, non-hillforts it scores above 5% — which are likely mislabels. Retrain 12 epochs on the cleaned set and accuracy climbs about 4%. It's cheap, automatic label hygiene.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B — apply the detector across a whole nation. Tile the country into 768m patches, then slide the window in 384m steps so every patch half-overlaps its neighbour; that overlap empirically catches forts that straddle a tile edge. Each patch gets a confidence score; keep everything above 90% and cluster adjacent hits so one fort doesn't get reported five times. Engineering-wise this is the heavy part — about a million patches for England — but multiprocessed loading on a single RTX 2060 runs the entire country in under five hours. The output is a ranked list of candidate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C splits in two. On the left, automated scoring: a candidate counts as a true positive if it's within 500m of a known fort, otherwise a false positive; missed forts are false negatives. They report F1, not accuracy — true negatives are the entire empty landscape, so accuracy would look misleadingly perfect. On the right, the human loop: the ranked candidates go to an archaeologist who checks each in GIS against LiDAR, hillshade, aerial imagery and historic maps. The payoff is triage speed — about four seconds per site on the first pass, so 1,500 candidates get filtered in well under two hours instead of eyeballing 6,000 km².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portable — this is how they moved it to Germany and Italy. Apply the English detector straight to Hesse or Molise and it collapses: F1 of 21% and 12%. That's model drift — different scanners, terrain and elevation statistics. The fix is deliberately lightweight: collect 3,000 random local patches plus a tiny handful of known local forts — 22 in Hesse, 32 in Molise — and fine-tune just 12 epochs. F1 roughly doubles, to 38% and 34%. So adapting to a brand-new country is hours of work and a couple dozen examples, not a full retrain.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Briefly, what the pipeline actually delivered — the point is the finds, not the F1. Across three regions F1 sat in a tight 34–38% band. England: a genuinely new, previously unrecognized hillfort confirmed in the Chilterns. Hesse: 12 forts missing from the Atlas recovered plus 4 new candidates. Molise: 15 of the top 100 detections were real hillforts. The recurring false positives are instructive and consistent everywhere — medieval hilltop villages ringed by roads, agricultural terraces, and forest tracks all mimic ditch-and-rampart rings, which is exactly why the human verification step stays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Wrap-up, tied back to the pipeline. Three things make this work matter: the pipeline detects complex, irregular features — not just simple geometric shapes; it runs at national scale, 180,000 km², the largest automated archaeological search to date; and it ports to new countries with a light fine-tune instead of a rebuild. The honest limits: F1 of 34–38% leaves headroom on precision, and the detector fails exactly where LiDAR itself fails — dense Mediterranean maquis and terraced hillsides. The road ahead is more training regions, faster verification, and a shared community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06250" y="1428750"/>
            <a:ext cx="7429500" cy="7429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2821305"/>
            <a:ext cx="12573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J. COMPUTER APPLICATIONS IN ARCHAEOLOGY · 8(1) · 2025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47750" y="3518535"/>
            <a:ext cx="117729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150" kern="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Finding Hillforts at Scale</a:t>
            </a:r>
            <a:endParaRPr lang="en-US" sz="7500" dirty="0"/>
          </a:p>
        </p:txBody>
      </p:sp>
      <p:sp>
        <p:nvSpPr>
          <p:cNvPr id="5" name="Text 2"/>
          <p:cNvSpPr/>
          <p:nvPr/>
        </p:nvSpPr>
        <p:spPr>
          <a:xfrm>
            <a:off x="1047750" y="5747385"/>
            <a:ext cx="9614535" cy="979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50" dirty="0">
                <a:solidFill>
                  <a:srgbClr val="AEC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end-to-end deep-learning pipeline that searches LiDAR across 180,000 km² of Europe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1047750" y="7221855"/>
            <a:ext cx="494773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E98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Landauer · Maddison · Fontana · Posluschny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755243" y="7315200"/>
            <a:ext cx="57150" cy="57150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8" name="Text 5"/>
          <p:cNvSpPr/>
          <p:nvPr/>
        </p:nvSpPr>
        <p:spPr>
          <a:xfrm>
            <a:off x="6021943" y="7221855"/>
            <a:ext cx="275977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E98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England · Hesse · Molise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91765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WHY AUTOMATE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236595"/>
            <a:ext cx="12992100" cy="744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2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 much LiDAR, too few hillforts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1047750" y="4476750"/>
            <a:ext cx="4533900" cy="1524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720590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47750" y="5615940"/>
            <a:ext cx="466991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image patches to scan in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England alone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(266 GB)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924550" y="4476750"/>
            <a:ext cx="4533900" cy="1524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8" name="Text 6"/>
          <p:cNvSpPr/>
          <p:nvPr/>
        </p:nvSpPr>
        <p:spPr>
          <a:xfrm>
            <a:off x="5924550" y="4720590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&lt;0.05%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24550" y="5615940"/>
            <a:ext cx="498729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land is hillfort — a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needle in a haystack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801350" y="4476750"/>
            <a:ext cx="4533900" cy="1524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1" name="Text 9"/>
          <p:cNvSpPr/>
          <p:nvPr/>
        </p:nvSpPr>
        <p:spPr>
          <a:xfrm>
            <a:off x="10801350" y="4720590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180,000 km²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0801350" y="5615940"/>
            <a:ext cx="498729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searched by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automated workflow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6823710"/>
            <a:ext cx="15240" cy="771525"/>
          </a:xfrm>
          <a:prstGeom prst="rect">
            <a:avLst/>
          </a:prstGeom>
          <a:solidFill>
            <a:srgbClr val="5FA8D3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10640" y="6823710"/>
            <a:ext cx="1445323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8AA0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contribution isn't a new network — it's a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working end-to-end pipeline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8AA0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that turns raw national LiDAR into a short list an archaeologist can actually check.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2113121"/>
            <a:ext cx="182308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THE PIPELINE, END TO END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57250" y="2581751"/>
            <a:ext cx="1823085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phases: train → detect → verify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57250" y="3483769"/>
            <a:ext cx="5016461" cy="4690110"/>
          </a:xfrm>
          <a:prstGeom prst="roundRect">
            <a:avLst>
              <a:gd name="adj" fmla="val 2437"/>
            </a:avLst>
          </a:prstGeom>
          <a:solidFill>
            <a:srgbClr val="FFFFFF">
              <a:alpha val="2000"/>
            </a:srgbClr>
          </a:solidFill>
          <a:ln w="7620">
            <a:solidFill>
              <a:srgbClr val="E8EEF2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4420" y="3739039"/>
            <a:ext cx="504033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4420" y="4074319"/>
            <a:ext cx="504033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 the model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4420" y="4630579"/>
            <a:ext cx="4582120" cy="575310"/>
          </a:xfrm>
          <a:prstGeom prst="roundRect">
            <a:avLst>
              <a:gd name="adj" fmla="val 11589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5708" y="4781074"/>
            <a:ext cx="43995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Known hillforts → vignettes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845314" y="5253514"/>
            <a:ext cx="504033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4420" y="5544979"/>
            <a:ext cx="4582120" cy="560070"/>
          </a:xfrm>
          <a:prstGeom prst="roundRect">
            <a:avLst>
              <a:gd name="adj" fmla="val 11905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5708" y="5695474"/>
            <a:ext cx="4399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 ConvNeXt CNN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45314" y="6152674"/>
            <a:ext cx="504033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4420" y="6444139"/>
            <a:ext cx="4582120" cy="575310"/>
          </a:xfrm>
          <a:prstGeom prst="roundRect">
            <a:avLst>
              <a:gd name="adj" fmla="val 11589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5708" y="6594634"/>
            <a:ext cx="43995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Pseudo-label → retrain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45314" y="7067074"/>
            <a:ext cx="504033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4420" y="7358539"/>
            <a:ext cx="4582120" cy="560070"/>
          </a:xfrm>
          <a:prstGeom prst="roundRect">
            <a:avLst>
              <a:gd name="adj" fmla="val 11905"/>
            </a:avLst>
          </a:prstGeom>
          <a:solidFill>
            <a:srgbClr val="5FA8D3">
              <a:alpha val="10000"/>
            </a:srgbClr>
          </a:solidFill>
          <a:ln w="7620">
            <a:solidFill>
              <a:srgbClr val="5FA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5708" y="7509034"/>
            <a:ext cx="4399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8EC9E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Final detector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064211" y="3483769"/>
            <a:ext cx="457200" cy="472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635711" y="3483769"/>
            <a:ext cx="5016579" cy="4690110"/>
          </a:xfrm>
          <a:prstGeom prst="roundRect">
            <a:avLst>
              <a:gd name="adj" fmla="val 2437"/>
            </a:avLst>
          </a:prstGeom>
          <a:solidFill>
            <a:srgbClr val="FFFFFF">
              <a:alpha val="2000"/>
            </a:srgbClr>
          </a:solidFill>
          <a:ln w="7620">
            <a:solidFill>
              <a:srgbClr val="E8EEF2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2881" y="3739039"/>
            <a:ext cx="504046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2881" y="4074319"/>
            <a:ext cx="504046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Scan the country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6852881" y="4630579"/>
            <a:ext cx="4582239" cy="560070"/>
          </a:xfrm>
          <a:prstGeom prst="roundRect">
            <a:avLst>
              <a:gd name="adj" fmla="val 11905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4167" y="4781074"/>
            <a:ext cx="439966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Tile country: 768 m patches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6623769" y="5238274"/>
            <a:ext cx="504046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2881" y="5529739"/>
            <a:ext cx="4582239" cy="560070"/>
          </a:xfrm>
          <a:prstGeom prst="roundRect">
            <a:avLst>
              <a:gd name="adj" fmla="val 11905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4167" y="5680234"/>
            <a:ext cx="439966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Slide window, 384 m step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6623769" y="6137434"/>
            <a:ext cx="504046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852881" y="6428899"/>
            <a:ext cx="4582239" cy="560070"/>
          </a:xfrm>
          <a:prstGeom prst="roundRect">
            <a:avLst>
              <a:gd name="adj" fmla="val 11905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4167" y="6579394"/>
            <a:ext cx="439966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Score each patch 0–100%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6623769" y="7036594"/>
            <a:ext cx="504046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852881" y="7328059"/>
            <a:ext cx="4582239" cy="560070"/>
          </a:xfrm>
          <a:prstGeom prst="roundRect">
            <a:avLst>
              <a:gd name="adj" fmla="val 11905"/>
            </a:avLst>
          </a:prstGeom>
          <a:solidFill>
            <a:srgbClr val="5FA8D3">
              <a:alpha val="10000"/>
            </a:srgbClr>
          </a:solidFill>
          <a:ln w="7620">
            <a:solidFill>
              <a:srgbClr val="5FA8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4167" y="7478554"/>
            <a:ext cx="439966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8EC9E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Cluster hits &gt;90%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1842790" y="3483769"/>
            <a:ext cx="457200" cy="472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12414290" y="3483769"/>
            <a:ext cx="5016461" cy="4690110"/>
          </a:xfrm>
          <a:prstGeom prst="roundRect">
            <a:avLst>
              <a:gd name="adj" fmla="val 2437"/>
            </a:avLst>
          </a:prstGeom>
          <a:solidFill>
            <a:srgbClr val="FFFFFF">
              <a:alpha val="2000"/>
            </a:srgbClr>
          </a:solidFill>
          <a:ln w="7620">
            <a:solidFill>
              <a:srgbClr val="E8EEF2">
                <a:alpha val="1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31460" y="3739039"/>
            <a:ext cx="504033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C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631460" y="4074319"/>
            <a:ext cx="504033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Verify with experts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2631460" y="4630579"/>
            <a:ext cx="4582120" cy="560070"/>
          </a:xfrm>
          <a:prstGeom prst="roundRect">
            <a:avLst>
              <a:gd name="adj" fmla="val 11905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722749" y="4781074"/>
            <a:ext cx="4399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Ranked candidate list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12402354" y="5238274"/>
            <a:ext cx="504033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2631460" y="5529739"/>
            <a:ext cx="4582120" cy="560070"/>
          </a:xfrm>
          <a:prstGeom prst="roundRect">
            <a:avLst>
              <a:gd name="adj" fmla="val 11905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722749" y="5680234"/>
            <a:ext cx="4399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Expert checks in GIS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12402354" y="6137434"/>
            <a:ext cx="504033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631460" y="6428899"/>
            <a:ext cx="4582120" cy="560070"/>
          </a:xfrm>
          <a:prstGeom prst="roundRect">
            <a:avLst>
              <a:gd name="adj" fmla="val 11905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722749" y="6579394"/>
            <a:ext cx="4399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LiDAR + maps + imagery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12402354" y="7036594"/>
            <a:ext cx="504033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2631460" y="7328059"/>
            <a:ext cx="4582120" cy="560070"/>
          </a:xfrm>
          <a:prstGeom prst="roundRect">
            <a:avLst>
              <a:gd name="adj" fmla="val 11905"/>
            </a:avLst>
          </a:prstGeom>
          <a:solidFill>
            <a:srgbClr val="5FA8D3">
              <a:alpha val="10000"/>
            </a:srgbClr>
          </a:solidFill>
          <a:ln w="7620">
            <a:solidFill>
              <a:srgbClr val="5FA8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722749" y="7478554"/>
            <a:ext cx="4399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8EC9E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New / recovered sites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841308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PHASE A · BUILD THE TRAINING 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348038"/>
            <a:ext cx="1781175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map points to labelled images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4384358"/>
            <a:ext cx="3508653" cy="1929765"/>
          </a:xfrm>
          <a:prstGeom prst="roundRect">
            <a:avLst>
              <a:gd name="adj" fmla="val 3949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4920" y="4639628"/>
            <a:ext cx="33817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4920" y="5032057"/>
            <a:ext cx="33817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Atlas points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64920" y="5441632"/>
            <a:ext cx="3166542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4,000+ hillfort centres, no outlines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70703" y="4384358"/>
            <a:ext cx="361950" cy="1967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070753" y="4384358"/>
            <a:ext cx="3508653" cy="1929765"/>
          </a:xfrm>
          <a:prstGeom prst="roundRect">
            <a:avLst>
              <a:gd name="adj" fmla="val 3949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7923" y="4639628"/>
            <a:ext cx="33817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87923" y="5032057"/>
            <a:ext cx="33817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Cut vignettes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287923" y="5441632"/>
            <a:ext cx="33817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768 × 768 m image per point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93706" y="4384358"/>
            <a:ext cx="361950" cy="1967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093756" y="4384358"/>
            <a:ext cx="3508653" cy="1929765"/>
          </a:xfrm>
          <a:prstGeom prst="roundRect">
            <a:avLst>
              <a:gd name="adj" fmla="val 3949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10926" y="4639628"/>
            <a:ext cx="33817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10926" y="5032057"/>
            <a:ext cx="33817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Prune bad sites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310926" y="5441632"/>
            <a:ext cx="33817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drop destroyed / built-over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716709" y="4384358"/>
            <a:ext cx="361950" cy="1967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3116759" y="4384358"/>
            <a:ext cx="4123492" cy="1929765"/>
          </a:xfrm>
          <a:prstGeom prst="roundRect">
            <a:avLst>
              <a:gd name="adj" fmla="val 3949"/>
            </a:avLst>
          </a:prstGeom>
          <a:solidFill>
            <a:srgbClr val="5FA8D3">
              <a:alpha val="8000"/>
            </a:srgbClr>
          </a:solidFill>
          <a:ln w="7620">
            <a:solidFill>
              <a:srgbClr val="5FA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33929" y="4639628"/>
            <a:ext cx="405806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333929" y="5032057"/>
            <a:ext cx="40580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Labelled dataset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333929" y="5441632"/>
            <a:ext cx="405806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8EC9E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579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forts +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8EC9E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20,000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negatives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6752273"/>
            <a:ext cx="15240" cy="693420"/>
          </a:xfrm>
          <a:prstGeom prst="rect">
            <a:avLst/>
          </a:prstGeom>
          <a:solidFill>
            <a:srgbClr val="5FA8D3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10640" y="6893243"/>
            <a:ext cx="3798356" cy="4495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EC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Raw DEM, no hillshade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5201841" y="6752273"/>
            <a:ext cx="1239956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Detection becomes ordinary image classification — and the elevation grid is fed in directly with min/max normalization, which trained better than rendered visualizations.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9718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PHASE A · TRAIN, CLEAN, RETRAIN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478530"/>
            <a:ext cx="1781175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CNN that cleans its own labels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4476750"/>
            <a:ext cx="2800588" cy="1828800"/>
          </a:xfrm>
          <a:prstGeom prst="roundRect">
            <a:avLst>
              <a:gd name="adj" fmla="val 4167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5870" y="4712970"/>
            <a:ext cx="2644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45870" y="5095875"/>
            <a:ext cx="264478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ImageNet pretrain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45870" y="5474970"/>
            <a:ext cx="2644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ConvNeXt backbone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43588" y="4476750"/>
            <a:ext cx="34290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305538" y="4476750"/>
            <a:ext cx="2800588" cy="1828800"/>
          </a:xfrm>
          <a:prstGeom prst="roundRect">
            <a:avLst>
              <a:gd name="adj" fmla="val 4167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3658" y="4712970"/>
            <a:ext cx="2644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03658" y="5095875"/>
            <a:ext cx="264478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 50 epochs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03658" y="5474970"/>
            <a:ext cx="2644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flip/crop · weighted loss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01376" y="4476750"/>
            <a:ext cx="34290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563326" y="4476750"/>
            <a:ext cx="3401735" cy="1828800"/>
          </a:xfrm>
          <a:prstGeom prst="roundRect">
            <a:avLst>
              <a:gd name="adj" fmla="val 4167"/>
            </a:avLst>
          </a:prstGeom>
          <a:ln w="7620">
            <a:solidFill>
              <a:srgbClr val="5FA8D3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61447" y="4712970"/>
            <a:ext cx="33060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pseudo-label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61447" y="5095875"/>
            <a:ext cx="330604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Drop contradictions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61447" y="5474970"/>
            <a:ext cx="30956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fort &lt;85% or non-fort &gt;5% → cut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60311" y="4476750"/>
            <a:ext cx="34290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422261" y="4476750"/>
            <a:ext cx="2800588" cy="1828800"/>
          </a:xfrm>
          <a:prstGeom prst="roundRect">
            <a:avLst>
              <a:gd name="adj" fmla="val 4167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20381" y="4712970"/>
            <a:ext cx="2644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620381" y="5095875"/>
            <a:ext cx="264478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Retrain 12 epochs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620381" y="5474970"/>
            <a:ext cx="2644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505 forts · 15,156 neg.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18099" y="4476750"/>
            <a:ext cx="34290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4680049" y="4476750"/>
            <a:ext cx="2560201" cy="1828800"/>
          </a:xfrm>
          <a:prstGeom prst="roundRect">
            <a:avLst>
              <a:gd name="adj" fmla="val 4167"/>
            </a:avLst>
          </a:prstGeom>
          <a:solidFill>
            <a:srgbClr val="5FA8D3">
              <a:alpha val="10000"/>
            </a:srgbClr>
          </a:solidFill>
          <a:ln w="7620">
            <a:solidFill>
              <a:srgbClr val="5FA8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78170" y="5244465"/>
            <a:ext cx="238035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EC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detector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47750" y="6705600"/>
            <a:ext cx="15240" cy="609600"/>
          </a:xfrm>
          <a:prstGeom prst="rect">
            <a:avLst/>
          </a:prstGeom>
          <a:solidFill>
            <a:srgbClr val="5FA8D3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10640" y="6705600"/>
            <a:ext cx="1035368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8EC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+4%</a:t>
            </a:r>
            <a:endParaRPr lang="en-US" sz="3750" dirty="0"/>
          </a:p>
        </p:txBody>
      </p:sp>
      <p:sp>
        <p:nvSpPr>
          <p:cNvPr id="28" name="Text 26"/>
          <p:cNvSpPr/>
          <p:nvPr/>
        </p:nvSpPr>
        <p:spPr>
          <a:xfrm>
            <a:off x="2707958" y="6837045"/>
            <a:ext cx="1467334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accuracy from one self-cleaning pass — the model flags its own mislabelled training examples, no extra annotation needed.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10326"/>
            <a:ext cx="112109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PHASE B · SLIDING-WINDOW SCAN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117056"/>
            <a:ext cx="11210925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detector, slid across a nation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047750" y="4038124"/>
            <a:ext cx="6858000" cy="655320"/>
          </a:xfrm>
          <a:prstGeom prst="roundRect">
            <a:avLst>
              <a:gd name="adj" fmla="val 11628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5870" y="4217194"/>
            <a:ext cx="13620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55570" y="4232434"/>
            <a:ext cx="307619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country → 768 m patches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62100" y="4741069"/>
            <a:ext cx="7029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5032534"/>
            <a:ext cx="6858000" cy="655320"/>
          </a:xfrm>
          <a:prstGeom prst="roundRect">
            <a:avLst>
              <a:gd name="adj" fmla="val 11628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5870" y="5211604"/>
            <a:ext cx="15087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384 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8920" y="5226844"/>
            <a:ext cx="33499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half-overlap each neighbour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5735479"/>
            <a:ext cx="7029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026944"/>
            <a:ext cx="6858000" cy="655320"/>
          </a:xfrm>
          <a:prstGeom prst="roundRect">
            <a:avLst>
              <a:gd name="adj" fmla="val 11628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5870" y="6206014"/>
            <a:ext cx="13620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5570" y="6221254"/>
            <a:ext cx="373051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CNN rates each patch 0–100%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562100" y="6729889"/>
            <a:ext cx="7029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7021354"/>
            <a:ext cx="6858000" cy="655320"/>
          </a:xfrm>
          <a:prstGeom prst="roundRect">
            <a:avLst>
              <a:gd name="adj" fmla="val 11628"/>
            </a:avLst>
          </a:prstGeom>
          <a:solidFill>
            <a:srgbClr val="5FA8D3">
              <a:alpha val="8000"/>
            </a:srgbClr>
          </a:solidFill>
          <a:ln w="7620">
            <a:solidFill>
              <a:srgbClr val="5FA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5870" y="7200424"/>
            <a:ext cx="21122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&gt;90% · cluster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7215664"/>
            <a:ext cx="18183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EC9E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candidate sites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906250" y="2153722"/>
            <a:ext cx="5334000" cy="3769638"/>
          </a:xfrm>
          <a:prstGeom prst="roundRect">
            <a:avLst>
              <a:gd name="adj" fmla="val 2021"/>
            </a:avLst>
          </a:prstGeom>
          <a:solidFill>
            <a:srgbClr val="FFFFFF">
              <a:alpha val="2000"/>
            </a:srgbClr>
          </a:solidFill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06250" y="2153722"/>
            <a:ext cx="5334000" cy="376963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26240" y="6190059"/>
            <a:ext cx="549402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F8A9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overlapping 768 m windows step across the DEM grid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1906250" y="7096839"/>
            <a:ext cx="5334000" cy="1524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23" name="Text 20"/>
          <p:cNvSpPr/>
          <p:nvPr/>
        </p:nvSpPr>
        <p:spPr>
          <a:xfrm>
            <a:off x="11639550" y="7321629"/>
            <a:ext cx="5867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8EC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5 hrs</a:t>
            </a:r>
            <a:endParaRPr lang="en-US" sz="3150" dirty="0"/>
          </a:p>
        </p:txBody>
      </p:sp>
      <p:sp>
        <p:nvSpPr>
          <p:cNvPr id="24" name="Text 21"/>
          <p:cNvSpPr/>
          <p:nvPr/>
        </p:nvSpPr>
        <p:spPr>
          <a:xfrm>
            <a:off x="11639550" y="7889320"/>
            <a:ext cx="58674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of England · ~1M patches · single RTX 2060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265521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8EC9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— PHASE C · SCORE &amp; VERIFY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2772251"/>
            <a:ext cx="1781175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machine ranks; the human decides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047750" y="3731419"/>
            <a:ext cx="7791450" cy="4290060"/>
          </a:xfrm>
          <a:prstGeom prst="roundRect">
            <a:avLst>
              <a:gd name="adj" fmla="val 2220"/>
            </a:avLst>
          </a:prstGeom>
          <a:ln w="7620">
            <a:solidFill>
              <a:srgbClr val="E8EEF2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9220" y="4043839"/>
            <a:ext cx="784136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AUTOMATED SCORING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9220" y="4569619"/>
            <a:ext cx="6286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C9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4584859"/>
            <a:ext cx="457919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candidate within 500 m of a known fort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9220" y="5000149"/>
            <a:ext cx="6286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C9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5015389"/>
            <a:ext cx="33893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detection with no fort nearby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79220" y="5430679"/>
            <a:ext cx="6286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C9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5445919"/>
            <a:ext cx="34423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known fort the model missed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79220" y="5975509"/>
            <a:ext cx="7128510" cy="9525"/>
          </a:xfrm>
          <a:prstGeom prst="rect">
            <a:avLst/>
          </a:prstGeom>
          <a:solidFill>
            <a:srgbClr val="E8EEF2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79220" y="6192679"/>
            <a:ext cx="734236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8EC9E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F1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not accuracy — the landscape is almost entirely negative.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448800" y="3731419"/>
            <a:ext cx="7791450" cy="4290060"/>
          </a:xfrm>
          <a:prstGeom prst="roundRect">
            <a:avLst>
              <a:gd name="adj" fmla="val 2220"/>
            </a:avLst>
          </a:prstGeom>
          <a:solidFill>
            <a:srgbClr val="5FA8D3">
              <a:alpha val="5000"/>
            </a:srgbClr>
          </a:solidFill>
          <a:ln w="7620">
            <a:solidFill>
              <a:srgbClr val="5FA8D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0270" y="4043839"/>
            <a:ext cx="784136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 VERIFICATION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80270" y="4569619"/>
            <a:ext cx="784136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Ranked candidates → open in GIS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80270" y="4908709"/>
            <a:ext cx="784136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80270" y="5209699"/>
            <a:ext cx="78413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Cross-check LiDAR · maps · imagery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80270" y="5541169"/>
            <a:ext cx="784136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80270" y="5842159"/>
            <a:ext cx="78413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EC9E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Confirm or reject the site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780270" y="6364129"/>
            <a:ext cx="7128510" cy="9525"/>
          </a:xfrm>
          <a:prstGeom prst="rect">
            <a:avLst/>
          </a:prstGeom>
          <a:solidFill>
            <a:srgbClr val="E8EEF2">
              <a:alpha val="1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780270" y="6581299"/>
            <a:ext cx="959168" cy="116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8EC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~4 s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11044238" y="6779419"/>
            <a:ext cx="6040479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 site, first pass — 1,500 candidates triaged in 1 h 41 m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890361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— PORTING THE PIPELINE ABROAD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397091"/>
            <a:ext cx="1781175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Fine-tune, don't rebuild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047750" y="4478179"/>
            <a:ext cx="3410545" cy="1150620"/>
          </a:xfrm>
          <a:prstGeom prst="roundRect">
            <a:avLst>
              <a:gd name="adj" fmla="val 6623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4920" y="4714399"/>
            <a:ext cx="25578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England detector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264920" y="5148739"/>
            <a:ext cx="327382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trained on British forts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91645" y="4889659"/>
            <a:ext cx="3409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010745" y="4470559"/>
            <a:ext cx="3410664" cy="1165860"/>
          </a:xfrm>
          <a:prstGeom prst="roundRect">
            <a:avLst>
              <a:gd name="adj" fmla="val 6536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27915" y="4706779"/>
            <a:ext cx="19548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Apply abroad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5227915" y="5141119"/>
            <a:ext cx="327395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08A8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drift → F1 21% / 12%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54760" y="4889659"/>
            <a:ext cx="3409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973860" y="4356259"/>
            <a:ext cx="4303395" cy="1394460"/>
          </a:xfrm>
          <a:prstGeom prst="roundRect">
            <a:avLst>
              <a:gd name="adj" fmla="val 5464"/>
            </a:avLst>
          </a:prstGeom>
          <a:ln w="7620">
            <a:solidFill>
              <a:srgbClr val="5FA8D3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91030" y="4592479"/>
            <a:ext cx="24581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Fine-tune locally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191030" y="5026819"/>
            <a:ext cx="3985127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3,000 patches + 22–32 forts · 12 epochs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410605" y="4889659"/>
            <a:ext cx="3409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829705" y="4478179"/>
            <a:ext cx="3410545" cy="1150620"/>
          </a:xfrm>
          <a:prstGeom prst="roundRect">
            <a:avLst>
              <a:gd name="adj" fmla="val 6623"/>
            </a:avLst>
          </a:prstGeom>
          <a:solidFill>
            <a:srgbClr val="5FA8D3">
              <a:alpha val="10000"/>
            </a:srgbClr>
          </a:solidFill>
          <a:ln w="7620">
            <a:solidFill>
              <a:srgbClr val="5FA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46875" y="4714399"/>
            <a:ext cx="155708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8EC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Recovered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14046875" y="5148739"/>
            <a:ext cx="327382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C9E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F1 38% / 34%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7750" y="6207919"/>
            <a:ext cx="89749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Hesse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576060" y="6253639"/>
            <a:ext cx="135788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8A9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+22 forts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4875" y="6733699"/>
            <a:ext cx="157162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AA0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before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628900" y="6712744"/>
            <a:ext cx="1420178" cy="285750"/>
          </a:xfrm>
          <a:prstGeom prst="roundRect">
            <a:avLst>
              <a:gd name="adj" fmla="val 6667"/>
            </a:avLst>
          </a:prstGeom>
          <a:solidFill>
            <a:srgbClr val="E8EEF2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201478" y="6707029"/>
            <a:ext cx="4876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A0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4875" y="7126129"/>
            <a:ext cx="157162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 fine-tune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628900" y="7105174"/>
            <a:ext cx="2569845" cy="285750"/>
          </a:xfrm>
          <a:prstGeom prst="roundRect">
            <a:avLst>
              <a:gd name="adj" fmla="val 6667"/>
            </a:avLst>
          </a:prstGeom>
          <a:solidFill>
            <a:srgbClr val="5FA8D3"/>
          </a:solidFill>
          <a:ln/>
        </p:spPr>
      </p:sp>
      <p:sp>
        <p:nvSpPr>
          <p:cNvPr id="26" name="Text 24"/>
          <p:cNvSpPr/>
          <p:nvPr/>
        </p:nvSpPr>
        <p:spPr>
          <a:xfrm>
            <a:off x="5351145" y="7099459"/>
            <a:ext cx="4876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C9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72500" y="6207919"/>
            <a:ext cx="96488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Molise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4100810" y="6253639"/>
            <a:ext cx="135788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8A9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+32 forts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29625" y="6733699"/>
            <a:ext cx="157162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AA0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before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153650" y="6712744"/>
            <a:ext cx="811530" cy="285750"/>
          </a:xfrm>
          <a:prstGeom prst="roundRect">
            <a:avLst>
              <a:gd name="adj" fmla="val 6667"/>
            </a:avLst>
          </a:prstGeom>
          <a:solidFill>
            <a:srgbClr val="E8EEF2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117581" y="6707029"/>
            <a:ext cx="4876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A0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9625" y="7126129"/>
            <a:ext cx="157162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 fine-tune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153650" y="7105174"/>
            <a:ext cx="2299335" cy="285750"/>
          </a:xfrm>
          <a:prstGeom prst="roundRect">
            <a:avLst>
              <a:gd name="adj" fmla="val 6667"/>
            </a:avLst>
          </a:prstGeom>
          <a:solidFill>
            <a:srgbClr val="5FA8D3"/>
          </a:solidFill>
          <a:ln/>
        </p:spPr>
      </p:sp>
      <p:sp>
        <p:nvSpPr>
          <p:cNvPr id="34" name="Text 32"/>
          <p:cNvSpPr/>
          <p:nvPr/>
        </p:nvSpPr>
        <p:spPr>
          <a:xfrm>
            <a:off x="12605385" y="7099459"/>
            <a:ext cx="4876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C9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34%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867025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— WHAT THE PIPELINE FOUND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373755"/>
            <a:ext cx="1781175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F1 ≈ 34–38% — but real discoveries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047750" y="4332922"/>
            <a:ext cx="5181600" cy="2327910"/>
          </a:xfrm>
          <a:prstGeom prst="roundRect">
            <a:avLst>
              <a:gd name="adj" fmla="val 3273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2070" y="4626293"/>
            <a:ext cx="126563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England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32070" y="4687253"/>
            <a:ext cx="8991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C9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F1 36%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2070" y="5186363"/>
            <a:ext cx="50962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8EC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new fort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322070" y="5700713"/>
            <a:ext cx="47719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previously unrecognized, confirmed in the Chilterns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53200" y="4332922"/>
            <a:ext cx="5181600" cy="2327910"/>
          </a:xfrm>
          <a:prstGeom prst="roundRect">
            <a:avLst>
              <a:gd name="adj" fmla="val 3273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7520" y="4626293"/>
            <a:ext cx="95047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Hesse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637520" y="4687253"/>
            <a:ext cx="8991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C9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F1 38%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27520" y="5186363"/>
            <a:ext cx="50962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8EC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+ 4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6827520" y="5700713"/>
            <a:ext cx="47719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forts recovered from outside the Atlas, plus 4 new candidates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2058650" y="4332922"/>
            <a:ext cx="5181600" cy="2327910"/>
          </a:xfrm>
          <a:prstGeom prst="roundRect">
            <a:avLst>
              <a:gd name="adj" fmla="val 3273"/>
            </a:avLst>
          </a:prstGeom>
          <a:ln w="7620">
            <a:solidFill>
              <a:srgbClr val="E8EEF2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32970" y="4626293"/>
            <a:ext cx="102691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Molise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142970" y="4687253"/>
            <a:ext cx="8991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C9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F1 34%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32970" y="5186363"/>
            <a:ext cx="50962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8EC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 / 100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2332970" y="5700713"/>
            <a:ext cx="47719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BB2C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the top-ranked detections were genuine hillforts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47750" y="7060882"/>
            <a:ext cx="15240" cy="359093"/>
          </a:xfrm>
          <a:prstGeom prst="rect">
            <a:avLst/>
          </a:prstGeom>
          <a:solidFill>
            <a:srgbClr val="5FA8D3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10640" y="7060882"/>
            <a:ext cx="17548860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8AA0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Same false positives everywhere —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CFDDE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hilltop villages, terraces, forest tracks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8AA0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ring a summit like ramparts. That's why a human stays in the loop.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73668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— TAKEAWAYS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218497"/>
            <a:ext cx="12950190" cy="1249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pipeline that scales, ports, and stays human-checked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963478"/>
            <a:ext cx="801528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5470207"/>
            <a:ext cx="33337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333500" y="5508307"/>
            <a:ext cx="6366809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Detects complex, irregular structures — not just simple shapes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047750" y="6361748"/>
            <a:ext cx="33337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333500" y="6399848"/>
            <a:ext cx="6408014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at national scale — 180,000 km², the largest such search to date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047750" y="7253288"/>
            <a:ext cx="33337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5FA8D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33500" y="7291388"/>
            <a:ext cx="6539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Ports to new countries with a light fine-tune, not a rebuild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191625" y="4963478"/>
            <a:ext cx="801528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FA8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 CHALLENGES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91625" y="5470207"/>
            <a:ext cx="16192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8AA0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477375" y="5508307"/>
            <a:ext cx="5693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F1 of 34–38% leaves real headroom on precision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191625" y="6001703"/>
            <a:ext cx="16192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8AA0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477375" y="6039803"/>
            <a:ext cx="6452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Fails where LiDAR fails — maquis and terraced hillsides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191625" y="6533198"/>
            <a:ext cx="16192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8AA0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477375" y="6571298"/>
            <a:ext cx="63166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BCCCD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Next: more regions, faster review, a shared benchmark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2026-06-26T07:39:06Z</dcterms:created>
  <dcterms:modified xsi:type="dcterms:W3CDTF">2026-06-26T07:39:06Z</dcterms:modified>
</cp:coreProperties>
</file>