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Algorithm for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2286000" y="2331720"/>
            <a:ext cx="4572000" cy="502920"/>
          </a:xfrm>
          <a:prstGeom prst="rect">
            <a:avLst/>
          </a:prstGeom>
          <a:solidFill>
            <a:srgbClr val="141E5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2331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Pradeep Niroula  &amp;  Yunseong Nam  |  npj Quantum Information (2021)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463040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O(√N · log²N)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46120" y="3017520"/>
            <a:ext cx="2606040" cy="1463040"/>
          </a:xfrm>
          <a:prstGeom prst="rect">
            <a:avLst/>
          </a:prstGeom>
          <a:solidFill>
            <a:srgbClr val="0D1533"/>
          </a:solidFill>
          <a:ln w="1905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3474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+ M)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5040" y="3017520"/>
            <a:ext cx="2606040" cy="1463040"/>
          </a:xfrm>
          <a:prstGeom prst="rect">
            <a:avLst/>
          </a:prstGeom>
          <a:solidFill>
            <a:srgbClr val="0D1533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Type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3474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All-Zero Check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509778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09778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509778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509778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509778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509778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509778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09778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5097780"/>
            <a:ext cx="777240" cy="45720"/>
          </a:xfrm>
          <a:prstGeom prst="rect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5097780"/>
            <a:ext cx="77724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Setup &amp; Quantum Registers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Encoding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1280160"/>
          </a:xfrm>
          <a:prstGeom prst="rect">
            <a:avLst/>
          </a:prstGeom>
          <a:solidFill>
            <a:srgbClr val="0D1533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</a:t>
            </a:r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length 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length M ≤ 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Position k where P occurs in 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best: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+ M)  [KMP]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280160"/>
          </a:xfrm>
          <a:prstGeom prst="rect">
            <a:avLst/>
          </a:prstGeom>
          <a:solidFill>
            <a:srgbClr val="0D1533"/>
          </a:solidFill>
          <a:ln w="1270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7043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register: </a:t>
            </a:r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qubits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register: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qubits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register: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log₂N qubits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 qubits (depth opt.)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(3) — State Encoding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475488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880360"/>
            <a:ext cx="8266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|T⟩ = |t₀ t₁ ... t_{N-1}⟩  =  ⊗ᵢ |tᵢ⟩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8412480" cy="475488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401568"/>
            <a:ext cx="8266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|P⟩ = |p₀ p₁ ... p_{M-1}⟩  =  ⊗ⱼ |pⱼ⟩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9502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(4) — Composite Initial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251960"/>
            <a:ext cx="8266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  =  |0⟩ⁿ  ⊗  ( ⊗ᵢ |tᵢ⟩ )  ⊗  ( ⊗ⱼ |pⱼ⟩ 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uses only identity (I) and bit-flip (X) gates  →  zero gate cost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Hadamard Superposition of Shifts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n-qubit Hadamard H^⊗n to the index register: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502920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08760"/>
            <a:ext cx="8266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H^⊗n |0⟩ⁿ  ⊗  |T⟩  ⊗  |P⟩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20299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8412480" cy="566928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395728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( 1/√N ) · Σₖ₌₀^{N-1}  |k⟩  ⊗  |t₀ t₁ ... t_{N-1}⟩  ⊗  |p₀ p₁ ... p_{M-1}⟩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8412480" cy="1005840"/>
          </a:xfrm>
          <a:prstGeom prst="rect">
            <a:avLst/>
          </a:prstGeom>
          <a:solidFill>
            <a:srgbClr val="050B1F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182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register now holds all N possible shift values k = 0, 1, 2, ..., N-1  </a:t>
            </a:r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equal superposition. The text and pattern registers are unchanged.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quantum parallelism that gives O(√N) advantage over classical O(N).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0D1533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cost: </a:t>
            </a:r>
            <a:pPr algn="ctr"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log(N) Hadamard gates</a:t>
            </a:r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Time complexity: </a:t>
            </a:r>
            <a:pPr algn="ctr"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pPr algn="ctr"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(all gates in parallel)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Cyclic Shift Operator 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(8) — Operator Definition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502920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9848"/>
            <a:ext cx="8266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|k⟩ ⊗ |t₀ t₁ ... t_{N-1}⟩  =  |k⟩ ⊗ |t_{0+k} t_{1+k} ... t_{N-1+k}⟩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(6) — After Applying S (left-circular shift by k positions):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8412480" cy="530352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47672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( 1/√N ) · Σₖ  |k⟩  ⊗  |t_{0+k} t_{1+k} ... t_{N-1+k}⟩  ⊗  |P⟩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5968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(9) — Binary Decomposition of k-shift (key implementation insight):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88036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Sₖ  =  S_{2⁰}^{k₀}  ·  S_{2¹}^{k₁}  ·  ...  ·  S_{2^{n-1}}^{k_{n-1}}      [ where k = Σⱼ 2ʲ kⱼ 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112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(10) — Permutation Form of Circular Shift by s bits: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794760"/>
            <a:ext cx="8266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Pₛ  =  { N-s,  N-s+1,  N-s+2,  ...,  N-s-1 }    (mod 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425696"/>
            <a:ext cx="8412480" cy="640080"/>
          </a:xfrm>
          <a:prstGeom prst="rect">
            <a:avLst/>
          </a:prstGeom>
          <a:solidFill>
            <a:srgbClr val="050B1F"/>
          </a:solidFill>
          <a:ln w="1270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4256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S_{2ʲ}^{(c)}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CNOT → N/2 parallel Fredkin (controlled-SWAP) gates → un-fan-out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Depth per layer: O(log N)  |  Total layers: log N  | 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S: O(log²N)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XOR Comparison via CNOT Gates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 CNOT gates between shifted text bits and pattern bits: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(7) — After XOR (CNOT^M applied to pattern register):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566928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17320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( 1/√N ) · Σₖ  |k⟩  ⊗  |t_{0+k} ... t_{N-1+k}⟩  ⊗  |(p₀⊕t_{0+k}) (p₁⊕t_{1+k}) ... (p_{M-1}⊕t_{M-1+k})⟩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822960"/>
          </a:xfrm>
          <a:prstGeom prst="rect">
            <a:avLst/>
          </a:prstGeom>
          <a:solidFill>
            <a:srgbClr val="0D1533"/>
          </a:solidFill>
          <a:ln w="1270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2140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register (3rd register) is </a:t>
            </a:r>
            <a:pPr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all-zeros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and only if P matches T[k..k+M-1]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ones</a:t>
            </a:r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strings differ in exactly d bit positions  (used for fuzzy matching)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035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Truth Table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3840480" cy="150876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pⱼ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tⱼ₊ₖ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pⱼ ⊕ tⱼ₊ₖ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Match?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9F0A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9F0A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9F0A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9F0A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53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0" y="3035808"/>
            <a:ext cx="4297680" cy="1828800"/>
          </a:xfrm>
          <a:prstGeom prst="rect">
            <a:avLst/>
          </a:prstGeom>
          <a:solidFill>
            <a:srgbClr val="050B1F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3090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63440" y="3429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CNOT gates</a:t>
            </a:r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(one per bit pair)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gates on disjoint qubit pairs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Execute in parallel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Grover Oracle U_w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(11) — Oracle Definition (phase flip):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solidFill>
            <a:srgbClr val="0D1533"/>
          </a:solidFill>
          <a:ln w="1270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U_w |x₀x₁...x_{M-1}⟩  =</a:t>
            </a:r>
            <a:pPr indent="0" marL="0">
              <a:buNone/>
            </a:pPr>
            <a:r>
              <a:rPr lang="en-US" sz="14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−|x₀...x_{M-1}⟩   if  Σᵢ xᵢ ≤ d   (≤ d mismatches → MARK)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{ +|x₀...x_{M-1}⟩   if  Σᵢ xᵢ &gt; d   (too many mismatches → skip)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4069080" cy="1234440"/>
          </a:xfrm>
          <a:prstGeom prst="rect">
            <a:avLst/>
          </a:prstGeom>
          <a:solidFill>
            <a:srgbClr val="050B1F"/>
          </a:solidFill>
          <a:ln w="1270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249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72384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phase only when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register is |00...0⟩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697480"/>
            <a:ext cx="4069080" cy="1234440"/>
          </a:xfrm>
          <a:prstGeom prst="rect">
            <a:avLst/>
          </a:prstGeom>
          <a:solidFill>
            <a:srgbClr val="050B1F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7249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072384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small integer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phase when ≤ d bits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 between P and T[k..]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0416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34256"/>
            <a:ext cx="8412480" cy="749808"/>
          </a:xfrm>
          <a:prstGeom prst="rect">
            <a:avLst/>
          </a:prstGeom>
          <a:solidFill>
            <a:srgbClr val="0D1533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35254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Multi-controlled NOT (Toffoli chain): </a:t>
            </a:r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M) depth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using O(M) ancilla qubits (long-range architecture)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cost: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− 12 CNOTs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 − 17 T gates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M − 3 ancilla qubits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Grover Amplitude Amplification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Grover iteration amplifies the matching shift's amplitude: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777240"/>
          </a:xfrm>
          <a:prstGeom prst="rect">
            <a:avLst/>
          </a:prstGeom>
          <a:solidFill>
            <a:srgbClr val="0D1533"/>
          </a:solidFill>
          <a:ln w="1270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25880"/>
            <a:ext cx="457200" cy="457200"/>
          </a:xfrm>
          <a:prstGeom prst="ellipse">
            <a:avLst/>
          </a:prstGeom>
          <a:solidFill>
            <a:srgbClr val="69F0A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2252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Oracle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U_w  flips phase of matching state |k*⟩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777240"/>
          </a:xfrm>
          <a:prstGeom prst="rect">
            <a:avLst/>
          </a:prstGeom>
          <a:solidFill>
            <a:srgbClr val="0D1533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240280"/>
            <a:ext cx="457200" cy="457200"/>
          </a:xfrm>
          <a:prstGeom prst="ellipse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1396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4871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2|ψ⟩⟨ψ| − I   reflects about average amplitude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8412480" cy="777240"/>
          </a:xfrm>
          <a:prstGeom prst="rect">
            <a:avLst/>
          </a:prstGeom>
          <a:solidFill>
            <a:srgbClr val="0D1533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154680"/>
            <a:ext cx="457200" cy="457200"/>
          </a:xfrm>
          <a:prstGeom prst="ellipse">
            <a:avLst/>
          </a:prstGeom>
          <a:solidFill>
            <a:srgbClr val="FFB7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054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4015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O(√N) times total → probability of |k*⟩ → ~1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Complexity Buildup: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297680"/>
          <a:ext cx="8412480" cy="8229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1188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 (X gates)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Hadamard on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 shift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O(log²N)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O(√N · log²N)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(CNOT^M)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 oracle U_w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O(√N · log 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√N iterations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 √N · (log²N + log M) 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Gate Count Formulas — Eq (12)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(12) — Full Gate Counts (× 2 for U and U†):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48640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15568"/>
            <a:ext cx="8266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#CNOT  =  ( 7M − 12  +  (8N − 9)·log N )  ×  2√N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ect">
            <a:avLst/>
          </a:prstGeom>
          <a:solidFill>
            <a:srgbClr val="0D1533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19072"/>
            <a:ext cx="8266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  =  ( 8M − 17  +  7(N − 1)·log N )  ×  2√N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Cost Breakdown per Component: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24912"/>
          <a:ext cx="8412480" cy="16916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#CNOT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#T gates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 (T, 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X gates (Clifford)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Hadamard H^⊗n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H gates (Clifford)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 CNOT per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N/2 copies of control 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Fredkin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gate: 7 CNOT + 7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 shift S (total)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(8N−9)·log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7(N−1)·log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 layers of S_{2^j}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(CNOT^M)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Parallel, O(1)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 oracle U_w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6M−12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8M−17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Parallelized Toffoli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C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50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4526280"/>
            <a:ext cx="8412480" cy="530352"/>
          </a:xfrm>
          <a:prstGeom prst="rect">
            <a:avLst/>
          </a:prstGeom>
          <a:solidFill>
            <a:srgbClr val="050B1F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5262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×2?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amplification requires applying U (forward) AND U† (inverse) in each Grover step.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U† = uncompute to restore ancilla qubits.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Scale &amp; Quantum Advantage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1298448"/>
          </a:xfrm>
          <a:prstGeom prst="rect">
            <a:avLst/>
          </a:prstGeom>
          <a:solidFill>
            <a:srgbClr val="0D1533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Search (1 MB)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914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Wins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7101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ASCII chars (M=160 bits)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Text: </a:t>
            </a:r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8×10⁶ bits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81912"/>
            <a:ext cx="7955280" cy="475488"/>
          </a:xfrm>
          <a:prstGeom prst="rect">
            <a:avLst/>
          </a:prstGeom>
          <a:solidFill>
            <a:srgbClr val="050B1F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581912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count ≈ ~10¹³ CNOT &amp; 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1298448"/>
          </a:xfrm>
          <a:prstGeom prst="rect">
            <a:avLst/>
          </a:prstGeom>
          <a:solidFill>
            <a:srgbClr val="0D1533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31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(1 GB)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Wins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8833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KB genetic signature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Text: </a:t>
            </a:r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8×10⁹ bits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7955280" cy="475488"/>
          </a:xfrm>
          <a:prstGeom prst="rect">
            <a:avLst/>
          </a:prstGeom>
          <a:solidFill>
            <a:srgbClr val="050B1F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999232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count ≈ &gt;10¹⁷ CNOT &amp; 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1298448"/>
          </a:xfrm>
          <a:prstGeom prst="rect">
            <a:avLst/>
          </a:prstGeom>
          <a:solidFill>
            <a:srgbClr val="0D1533"/>
          </a:solidFill>
          <a:ln w="1905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Waves (PB)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749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056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 template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Text: </a:t>
            </a:r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8×10¹⁵ bits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416552"/>
            <a:ext cx="7955280" cy="475488"/>
          </a:xfrm>
          <a:prstGeom prst="rect">
            <a:avLst/>
          </a:prstGeom>
          <a:solidFill>
            <a:srgbClr val="050B1F"/>
          </a:solidFill>
          <a:ln w="19050">
            <a:solidFill>
              <a:srgbClr val="69F0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4416552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count ≈ ~10²⁵ CNOT &amp; 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 emerges when N is astronomically large and the speedup √N dominates gate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50B1F"/>
          </a:solidFill>
          <a:ln w="12700">
            <a:solidFill>
              <a:srgbClr val="050B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Algorithm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 |  O(√N · log²N) Time  |  O(N+M) Space  |  No QRAM Required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Niroula &amp; Nam  |  npj Quantum Information (2021)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2057400"/>
            <a:ext cx="1600200" cy="1828800"/>
          </a:xfrm>
          <a:prstGeom prst="rect">
            <a:avLst/>
          </a:prstGeom>
          <a:solidFill>
            <a:srgbClr val="0D1533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21408"/>
            <a:ext cx="502920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214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5420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 = |0⟩ⁿ ⊗ |T⟩ ⊗ |P⟩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56232" y="2971800"/>
            <a:ext cx="9144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4248" y="2057400"/>
            <a:ext cx="1600200" cy="1828800"/>
          </a:xfrm>
          <a:prstGeom prst="rect">
            <a:avLst/>
          </a:prstGeom>
          <a:solidFill>
            <a:srgbClr val="0D1533"/>
          </a:solidFill>
          <a:ln w="25400">
            <a:solidFill>
              <a:srgbClr val="CE93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2121408"/>
            <a:ext cx="502920" cy="384048"/>
          </a:xfrm>
          <a:prstGeom prst="ellipse">
            <a:avLst/>
          </a:prstGeom>
          <a:solidFill>
            <a:srgbClr val="CE93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21214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9968" y="25420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29968" y="29260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H^⊗n → superposition of all 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11880" y="2971800"/>
            <a:ext cx="9144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057400"/>
            <a:ext cx="1600200" cy="1828800"/>
          </a:xfrm>
          <a:prstGeom prst="rect">
            <a:avLst/>
          </a:prstGeom>
          <a:solidFill>
            <a:srgbClr val="0D1533"/>
          </a:solidFill>
          <a:ln w="2540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88536" y="2121408"/>
            <a:ext cx="502920" cy="384048"/>
          </a:xfrm>
          <a:prstGeom prst="ellipse">
            <a:avLst/>
          </a:prstGeom>
          <a:solidFill>
            <a:srgbClr val="FFB7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88536" y="21214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85616" y="25420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Shift 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85616" y="29260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|k⟩|T⟩ → |k⟩|T shifted by k⟩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67528" y="2971800"/>
            <a:ext cx="9144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95544" y="2057400"/>
            <a:ext cx="1600200" cy="1828800"/>
          </a:xfrm>
          <a:prstGeom prst="rect">
            <a:avLst/>
          </a:prstGeom>
          <a:solidFill>
            <a:srgbClr val="0D1533"/>
          </a:solidFill>
          <a:ln w="25400">
            <a:solidFill>
              <a:srgbClr val="69F0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44184" y="2121408"/>
            <a:ext cx="502920" cy="384048"/>
          </a:xfrm>
          <a:prstGeom prst="ellipse">
            <a:avLst/>
          </a:prstGeom>
          <a:solidFill>
            <a:srgbClr val="69F0A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4184" y="21214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41264" y="25420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(CNOT^M)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41264" y="29260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pⱼ ⊕ tⱼ₊ₖ → 0 iff match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23176" y="2971800"/>
            <a:ext cx="9144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51192" y="2057400"/>
            <a:ext cx="1600200" cy="1828800"/>
          </a:xfrm>
          <a:prstGeom prst="rect">
            <a:avLst/>
          </a:prstGeom>
          <a:solidFill>
            <a:srgbClr val="0D1533"/>
          </a:solidFill>
          <a:ln w="25400">
            <a:solidFill>
              <a:srgbClr val="81D4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99832" y="2121408"/>
            <a:ext cx="502920" cy="384048"/>
          </a:xfrm>
          <a:prstGeom prst="ellipse">
            <a:avLst/>
          </a:prstGeom>
          <a:solidFill>
            <a:srgbClr val="81D4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21214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96912" y="25420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×√N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6912" y="292608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Amplify matching shift k*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041648"/>
            <a:ext cx="4160520" cy="475488"/>
          </a:xfrm>
          <a:prstGeom prst="rect">
            <a:avLst/>
          </a:prstGeom>
          <a:solidFill>
            <a:srgbClr val="0D1533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041648"/>
            <a:ext cx="4014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#CNOT = (7M−12 + (8N−9)logN) × 2√N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041648"/>
            <a:ext cx="4160520" cy="475488"/>
          </a:xfrm>
          <a:prstGeom prst="rect">
            <a:avLst/>
          </a:prstGeom>
          <a:solidFill>
            <a:srgbClr val="0D1533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4041648"/>
            <a:ext cx="4014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 = (8M−17 + 7(N−1)logN) × 2√N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Fredkin = 7 CNOT + 7 T  |  Oracle = Clifford + T gates  |  No QRAM assumed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910328"/>
            <a:ext cx="84124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365760" y="49377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 + M)  |  Failure probability: O(1/N) — suppressed by repetition (avg N/(N−1) runs)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Quantum Algorithm for String Matching</dc:title>
  <dc:subject>PptxGenJS Presentation</dc:subject>
  <dc:creator>PptxGenJS</dc:creator>
  <cp:lastModifiedBy>PptxGenJS</cp:lastModifiedBy>
  <cp:revision>1</cp:revision>
  <dcterms:created xsi:type="dcterms:W3CDTF">2026-05-26T12:46:11Z</dcterms:created>
  <dcterms:modified xsi:type="dcterms:W3CDTF">2026-05-26T12:46:11Z</dcterms:modified>
</cp:coreProperties>
</file>