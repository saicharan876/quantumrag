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IN"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D9A441"/>
          </a:solidFill>
          <a:ln w="12700">
            <a:solidFill>
              <a:srgbClr val="D9A441">
                <a:alpha val="0"/>
              </a:srgbClr>
            </a:solidFill>
            <a:prstDash val="solid"/>
          </a:ln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D9A441"/>
          </a:solidFill>
          <a:ln w="12700">
            <a:solidFill>
              <a:srgbClr val="D9A441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" y="713232"/>
            <a:ext cx="109728" cy="1417320"/>
          </a:xfrm>
          <a:prstGeom prst="rect">
            <a:avLst/>
          </a:prstGeom>
          <a:solidFill>
            <a:srgbClr val="D9A441"/>
          </a:solidFill>
          <a:ln w="12700">
            <a:solidFill>
              <a:srgbClr val="D9A441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96112" y="749808"/>
            <a:ext cx="5577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Proposal: A Hybrid Short–Long–Short Jump Scheme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914400" y="1856232"/>
            <a:ext cx="5166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E7EEF8"/>
                </a:solidFill>
              </a:rPr>
              <a:t>Combine Dalzell's extended-phase anchor with Hastings' localized short-path anchor, then test whether the middle overlap is easier than the direct one.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896112" y="2999232"/>
            <a:ext cx="5394960" cy="1097280"/>
          </a:xfrm>
          <a:prstGeom prst="roundRect">
            <a:avLst/>
          </a:prstGeom>
          <a:solidFill>
            <a:srgbClr val="113457"/>
          </a:solidFill>
          <a:ln w="15240">
            <a:solidFill>
              <a:srgbClr val="189AA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8992" y="3200400"/>
            <a:ext cx="5029200" cy="7863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</a:rPr>
              <a:t>Core thesis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</a:rPr>
              <a:t>Use two genuine anchors on opposite sides of the phase transition: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</a:rPr>
              <a:t>• ψ_D for the extended side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</a:rPr>
              <a:t>• ψ_H for the localized side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</a:rPr>
              <a:t>so the main cost becomes 1 / |⟨ψ_D|ψ_H⟩| instead of 1 / |⟨z*|ψ_D⟩|.</a:t>
            </a:r>
            <a:endParaRPr lang="en-US" sz="1450" dirty="0"/>
          </a:p>
        </p:txBody>
      </p:sp>
      <p:pic>
        <p:nvPicPr>
          <p:cNvPr id="8" name="Image 0" descr="/mnt/data/quantum_slide_assets/dalzell_p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95160" y="1146496"/>
            <a:ext cx="1965960" cy="2544184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6995160" y="841248"/>
            <a:ext cx="1965960" cy="3154680"/>
          </a:xfrm>
          <a:prstGeom prst="rect">
            <a:avLst/>
          </a:prstGeom>
          <a:solidFill>
            <a:srgbClr val="FFFFFF">
              <a:alpha val="0"/>
            </a:srgbClr>
          </a:solidFill>
          <a:ln w="1651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949440" y="4096512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Dalzell et al. (2023)</a:t>
            </a:r>
            <a:endParaRPr lang="en-US" sz="1050" dirty="0"/>
          </a:p>
        </p:txBody>
      </p:sp>
      <p:pic>
        <p:nvPicPr>
          <p:cNvPr id="11" name="Image 1" descr="/mnt/data/quantum_slide_assets/hastings_p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81160" y="1475680"/>
            <a:ext cx="1965960" cy="2544184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9281160" y="1170432"/>
            <a:ext cx="1965960" cy="3154680"/>
          </a:xfrm>
          <a:prstGeom prst="rect">
            <a:avLst/>
          </a:prstGeom>
          <a:solidFill>
            <a:srgbClr val="FFFFFF">
              <a:alpha val="0"/>
            </a:srgbClr>
          </a:solidFill>
          <a:ln w="16510">
            <a:solidFill>
              <a:srgbClr val="FFFFFF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9235440" y="4425696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Hastings (2018)</a:t>
            </a:r>
            <a:endParaRPr lang="en-US" sz="1050" dirty="0"/>
          </a:p>
        </p:txBody>
      </p:sp>
      <p:sp>
        <p:nvSpPr>
          <p:cNvPr id="14" name="Text 10"/>
          <p:cNvSpPr/>
          <p:nvPr/>
        </p:nvSpPr>
        <p:spPr>
          <a:xfrm>
            <a:off x="6903720" y="4956048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7EEF8"/>
                </a:solidFill>
              </a:rPr>
              <a:t>Research motivation: both papers avoid the bad gap region — but from opposite sides.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6903720" y="539496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9A441"/>
                </a:solidFill>
              </a:rPr>
              <a:t>Can their two anchor states be stitched into one better pathway?</a:t>
            </a:r>
            <a:endParaRPr lang="en-US" sz="1800" dirty="0"/>
          </a:p>
        </p:txBody>
      </p:sp>
      <p:sp>
        <p:nvSpPr>
          <p:cNvPr id="16" name="Text 12"/>
          <p:cNvSpPr/>
          <p:nvPr/>
        </p:nvSpPr>
        <p:spPr>
          <a:xfrm>
            <a:off x="621792" y="6254496"/>
            <a:ext cx="10972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20" dirty="0">
                <a:solidFill>
                  <a:srgbClr val="EEF2F7"/>
                </a:solidFill>
              </a:rPr>
              <a:t>Papers used: Dalzell et al., “Mind the Gap: Achieving a Super-Grover Quantum Speedup by Jumping to the End” (STOC 2023); Hastings, “A Short Path Quantum Algorithm for Exact Optimization” (Quantum 2, 78, 2018).</a:t>
            </a:r>
            <a:endParaRPr lang="en-US" sz="82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a naive extra midpoint does not help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12648" y="80467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575"/>
                </a:solidFill>
              </a:rPr>
              <a:t>The midpoint must be a genuine anchor state, not just a filtered version of ψ_D.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66928" y="1325880"/>
            <a:ext cx="3611880" cy="4069080"/>
          </a:xfrm>
          <a:prstGeom prst="roundRect">
            <a:avLst/>
          </a:prstGeom>
          <a:solidFill>
            <a:srgbClr val="EAF2FF"/>
          </a:solidFill>
          <a:ln w="16510">
            <a:solidFill>
              <a:srgbClr val="9AB6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07992" y="1325880"/>
            <a:ext cx="3611880" cy="4069080"/>
          </a:xfrm>
          <a:prstGeom prst="roundRect">
            <a:avLst/>
          </a:prstGeom>
          <a:solidFill>
            <a:srgbClr val="FCEDEA"/>
          </a:solidFill>
          <a:ln w="16510">
            <a:solidFill>
              <a:srgbClr val="E0AAA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449056" y="1325880"/>
            <a:ext cx="3611880" cy="4069080"/>
          </a:xfrm>
          <a:prstGeom prst="roundRect">
            <a:avLst/>
          </a:prstGeom>
          <a:solidFill>
            <a:srgbClr val="EAF7EF"/>
          </a:solidFill>
          <a:ln w="16510">
            <a:solidFill>
              <a:srgbClr val="A2D2B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68096" y="152704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1F3A"/>
                </a:solidFill>
              </a:rPr>
              <a:t>Direct long jump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822960" y="2057400"/>
            <a:ext cx="2971800" cy="1920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620" dirty="0">
                <a:solidFill>
                  <a:srgbClr val="1F2937"/>
                </a:solidFill>
              </a:rPr>
              <a:t>ψ_D  →  z*</a:t>
            </a:r>
            <a:endParaRPr lang="en-US" sz="1620" dirty="0"/>
          </a:p>
          <a:p>
            <a:pPr indent="0" marL="0">
              <a:buNone/>
            </a:pPr>
            <a:r>
              <a:rPr lang="en-US" sz="1620" dirty="0">
                <a:solidFill>
                  <a:srgbClr val="1F2937"/>
                </a:solidFill>
              </a:rPr>
              <a:t>If |⟨z*|ψ_D⟩| = 0.01,</a:t>
            </a:r>
            <a:endParaRPr lang="en-US" sz="1620" dirty="0"/>
          </a:p>
          <a:p>
            <a:pPr indent="0" marL="0">
              <a:buNone/>
            </a:pPr>
            <a:r>
              <a:rPr lang="en-US" sz="1620" dirty="0">
                <a:solidFill>
                  <a:srgbClr val="1F2937"/>
                </a:solidFill>
              </a:rPr>
              <a:t>then cost ≈ 1 / 0.01 = 100.</a:t>
            </a:r>
            <a:endParaRPr lang="en-US" sz="1620" dirty="0"/>
          </a:p>
          <a:p>
            <a:pPr indent="0" marL="0">
              <a:buNone/>
            </a:pPr>
            <a:r>
              <a:rPr lang="en-US" sz="1620" dirty="0">
                <a:solidFill>
                  <a:srgbClr val="1F2937"/>
                </a:solidFill>
              </a:rPr>
              <a:t>This direct jump is the bottleneck.</a:t>
            </a:r>
            <a:endParaRPr lang="en-US" sz="1620" dirty="0"/>
          </a:p>
        </p:txBody>
      </p:sp>
      <p:sp>
        <p:nvSpPr>
          <p:cNvPr id="9" name="Text 7"/>
          <p:cNvSpPr/>
          <p:nvPr/>
        </p:nvSpPr>
        <p:spPr>
          <a:xfrm>
            <a:off x="822960" y="4910328"/>
            <a:ext cx="2880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7475"/>
                </a:solidFill>
              </a:rPr>
              <a:t>Key point: one small overlap controls the expensive step.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709160" y="152704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C95C54"/>
                </a:solidFill>
              </a:rPr>
              <a:t>Fake midpoint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4764024" y="2057400"/>
            <a:ext cx="2971800" cy="2468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460" dirty="0">
                <a:solidFill>
                  <a:srgbClr val="1F2937"/>
                </a:solidFill>
              </a:rPr>
              <a:t>ψ_D  →  φ  →  z*</a:t>
            </a:r>
            <a:endParaRPr lang="en-US" sz="1460" dirty="0"/>
          </a:p>
          <a:p>
            <a:pPr indent="0" marL="0">
              <a:buNone/>
            </a:pPr>
            <a:r>
              <a:rPr lang="en-US" sz="1460" dirty="0">
                <a:solidFill>
                  <a:srgbClr val="1F2937"/>
                </a:solidFill>
              </a:rPr>
              <a:t>Take φ = Πψ_D / ||Πψ_D||.</a:t>
            </a:r>
            <a:endParaRPr lang="en-US" sz="1460" dirty="0"/>
          </a:p>
          <a:p>
            <a:pPr indent="0" marL="0">
              <a:buNone/>
            </a:pPr>
            <a:r>
              <a:rPr lang="en-US" sz="1460" dirty="0">
                <a:solidFill>
                  <a:srgbClr val="1F2937"/>
                </a:solidFill>
              </a:rPr>
              <a:t>If 0.01 = 0.1 × 0.1, the two pieces look easier,</a:t>
            </a:r>
            <a:endParaRPr lang="en-US" sz="1460" dirty="0"/>
          </a:p>
          <a:p>
            <a:pPr indent="0" marL="0">
              <a:buNone/>
            </a:pPr>
            <a:r>
              <a:rPr lang="en-US" sz="1460" dirty="0">
                <a:solidFill>
                  <a:srgbClr val="1F2937"/>
                </a:solidFill>
              </a:rPr>
              <a:t>but φ is not independently accessible.</a:t>
            </a:r>
            <a:endParaRPr lang="en-US" sz="1460" dirty="0"/>
          </a:p>
          <a:p>
            <a:pPr indent="0" marL="0">
              <a:buNone/>
            </a:pPr>
            <a:r>
              <a:rPr lang="en-US" sz="1460" dirty="0">
                <a:solidFill>
                  <a:srgbClr val="1F2937"/>
                </a:solidFill>
              </a:rPr>
              <a:t>So the effective cost still behaves like 10 × 10 = 100.</a:t>
            </a:r>
            <a:endParaRPr lang="en-US" sz="1460" dirty="0"/>
          </a:p>
        </p:txBody>
      </p:sp>
      <p:sp>
        <p:nvSpPr>
          <p:cNvPr id="12" name="Text 10"/>
          <p:cNvSpPr/>
          <p:nvPr/>
        </p:nvSpPr>
        <p:spPr>
          <a:xfrm>
            <a:off x="4764024" y="4910328"/>
            <a:ext cx="2880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95C54"/>
                </a:solidFill>
              </a:rPr>
              <a:t>Key point: splitting a projection is a wash.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650224" y="152704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E8B57"/>
                </a:solidFill>
              </a:rPr>
              <a:t>Real anchor midpoint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8705088" y="2057400"/>
            <a:ext cx="2971800" cy="2514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460" dirty="0">
                <a:solidFill>
                  <a:srgbClr val="1F2937"/>
                </a:solidFill>
              </a:rPr>
              <a:t>ψ_D  →  φ  →  z*</a:t>
            </a:r>
            <a:endParaRPr lang="en-US" sz="1460" dirty="0"/>
          </a:p>
          <a:p>
            <a:pPr indent="0" marL="0">
              <a:buNone/>
            </a:pPr>
            <a:r>
              <a:rPr lang="en-US" sz="1460" dirty="0">
                <a:solidFill>
                  <a:srgbClr val="1F2937"/>
                </a:solidFill>
              </a:rPr>
              <a:t>Now let φ be the unique gapped ground state</a:t>
            </a:r>
            <a:endParaRPr lang="en-US" sz="1460" dirty="0"/>
          </a:p>
          <a:p>
            <a:pPr indent="0" marL="0">
              <a:buNone/>
            </a:pPr>
            <a:r>
              <a:rPr lang="en-US" sz="1460" dirty="0">
                <a:solidFill>
                  <a:srgbClr val="1F2937"/>
                </a:solidFill>
              </a:rPr>
              <a:t>of an accessible Hamiltonian H_φ.</a:t>
            </a:r>
            <a:endParaRPr lang="en-US" sz="1460" dirty="0"/>
          </a:p>
          <a:p>
            <a:pPr indent="0" marL="0">
              <a:buNone/>
            </a:pPr>
            <a:r>
              <a:rPr lang="en-US" sz="1460" dirty="0">
                <a:solidFill>
                  <a:srgbClr val="1F2937"/>
                </a:solidFill>
              </a:rPr>
              <a:t>Then reflections about φ are available directly,</a:t>
            </a:r>
            <a:endParaRPr lang="en-US" sz="1460" dirty="0"/>
          </a:p>
          <a:p>
            <a:pPr indent="0" marL="0">
              <a:buNone/>
            </a:pPr>
            <a:r>
              <a:rPr lang="en-US" sz="1460" dirty="0">
                <a:solidFill>
                  <a:srgbClr val="1F2937"/>
                </a:solidFill>
              </a:rPr>
              <a:t>so the two jump costs can add.</a:t>
            </a:r>
            <a:endParaRPr lang="en-US" sz="1460" dirty="0"/>
          </a:p>
          <a:p>
            <a:pPr indent="0" marL="0">
              <a:buNone/>
            </a:pPr>
            <a:r>
              <a:rPr lang="en-US" sz="1460" dirty="0">
                <a:solidFill>
                  <a:srgbClr val="1F2937"/>
                </a:solidFill>
              </a:rPr>
              <a:t>Example: 10 + 10 = 20, genuinely better than 100.</a:t>
            </a:r>
            <a:endParaRPr lang="en-US" sz="1460" dirty="0"/>
          </a:p>
        </p:txBody>
      </p:sp>
      <p:sp>
        <p:nvSpPr>
          <p:cNvPr id="15" name="Text 13"/>
          <p:cNvSpPr/>
          <p:nvPr/>
        </p:nvSpPr>
        <p:spPr>
          <a:xfrm>
            <a:off x="8705088" y="4910328"/>
            <a:ext cx="2880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8B57"/>
                </a:solidFill>
              </a:rPr>
              <a:t>Key point: find a true anchor, not a filter.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21792" y="6254496"/>
            <a:ext cx="10972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20" dirty="0">
                <a:solidFill>
                  <a:srgbClr val="6B7280"/>
                </a:solidFill>
              </a:rPr>
              <a:t>Context: Dalzell et al. jump framework and Hastings-style short-path grounding motivate the distinction between a real anchor state and a merely projected midpoint.</a:t>
            </a:r>
            <a:endParaRPr lang="en-US" sz="82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Proposed hybrid pathway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12648" y="80467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575"/>
                </a:solidFill>
              </a:rPr>
              <a:t>A short–long–short chain that uses one anchor from each paper.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1828800" y="2971800"/>
            <a:ext cx="1417320" cy="0"/>
          </a:xfrm>
          <a:prstGeom prst="line">
            <a:avLst/>
          </a:prstGeom>
          <a:noFill/>
          <a:ln w="31750">
            <a:solidFill>
              <a:srgbClr val="189AA8"/>
            </a:solidFill>
            <a:prstDash val="solid"/>
            <a:tailEnd type="triangle"/>
          </a:ln>
        </p:spPr>
      </p:sp>
      <p:sp>
        <p:nvSpPr>
          <p:cNvPr id="5" name="Shape 3"/>
          <p:cNvSpPr/>
          <p:nvPr/>
        </p:nvSpPr>
        <p:spPr>
          <a:xfrm>
            <a:off x="4160520" y="2971800"/>
            <a:ext cx="2743200" cy="0"/>
          </a:xfrm>
          <a:prstGeom prst="line">
            <a:avLst/>
          </a:prstGeom>
          <a:noFill/>
          <a:ln w="43180">
            <a:solidFill>
              <a:srgbClr val="D9A441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7818120" y="2971800"/>
            <a:ext cx="1554480" cy="0"/>
          </a:xfrm>
          <a:prstGeom prst="line">
            <a:avLst/>
          </a:prstGeom>
          <a:noFill/>
          <a:ln w="31750">
            <a:solidFill>
              <a:srgbClr val="189AA8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685800" y="2331720"/>
            <a:ext cx="1143000" cy="1261872"/>
          </a:xfrm>
          <a:prstGeom prst="roundRect">
            <a:avLst/>
          </a:prstGeom>
          <a:solidFill>
            <a:srgbClr val="EAF2FF"/>
          </a:solidFill>
          <a:ln w="19050">
            <a:solidFill>
              <a:srgbClr val="9AB6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2642616"/>
            <a:ext cx="1143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0B1F3A"/>
                </a:solidFill>
              </a:rPr>
              <a:t>|+⟩</a:t>
            </a:r>
            <a:endParaRPr lang="en-US" sz="2300" dirty="0"/>
          </a:p>
        </p:txBody>
      </p:sp>
      <p:sp>
        <p:nvSpPr>
          <p:cNvPr id="9" name="Shape 7"/>
          <p:cNvSpPr/>
          <p:nvPr/>
        </p:nvSpPr>
        <p:spPr>
          <a:xfrm>
            <a:off x="3246120" y="2331720"/>
            <a:ext cx="914400" cy="1261872"/>
          </a:xfrm>
          <a:prstGeom prst="roundRect">
            <a:avLst/>
          </a:prstGeom>
          <a:solidFill>
            <a:srgbClr val="F2ECF7"/>
          </a:solidFill>
          <a:ln w="19050">
            <a:solidFill>
              <a:srgbClr val="C5AFD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46120" y="2642616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8E5EA2"/>
                </a:solidFill>
              </a:rPr>
              <a:t>ψ_D</a:t>
            </a:r>
            <a:endParaRPr lang="en-US" sz="2300" dirty="0"/>
          </a:p>
        </p:txBody>
      </p:sp>
      <p:sp>
        <p:nvSpPr>
          <p:cNvPr id="11" name="Shape 9"/>
          <p:cNvSpPr/>
          <p:nvPr/>
        </p:nvSpPr>
        <p:spPr>
          <a:xfrm>
            <a:off x="6903720" y="2331720"/>
            <a:ext cx="914400" cy="1261872"/>
          </a:xfrm>
          <a:prstGeom prst="roundRect">
            <a:avLst/>
          </a:prstGeom>
          <a:solidFill>
            <a:srgbClr val="EAF7EF"/>
          </a:solidFill>
          <a:ln w="19050">
            <a:solidFill>
              <a:srgbClr val="A2D2B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903720" y="2642616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2E8B57"/>
                </a:solidFill>
              </a:rPr>
              <a:t>ψ_H</a:t>
            </a:r>
            <a:endParaRPr lang="en-US" sz="2300" dirty="0"/>
          </a:p>
        </p:txBody>
      </p:sp>
      <p:sp>
        <p:nvSpPr>
          <p:cNvPr id="13" name="Shape 11"/>
          <p:cNvSpPr/>
          <p:nvPr/>
        </p:nvSpPr>
        <p:spPr>
          <a:xfrm>
            <a:off x="9372600" y="2331720"/>
            <a:ext cx="1143000" cy="1261872"/>
          </a:xfrm>
          <a:prstGeom prst="roundRect">
            <a:avLst/>
          </a:prstGeom>
          <a:solidFill>
            <a:srgbClr val="FBF5E6"/>
          </a:solidFill>
          <a:ln w="19050">
            <a:solidFill>
              <a:srgbClr val="E2C97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372600" y="2642616"/>
            <a:ext cx="1143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D9A441"/>
                </a:solidFill>
              </a:rPr>
              <a:t>|z*⟩</a:t>
            </a:r>
            <a:endParaRPr lang="en-US" sz="2300" dirty="0"/>
          </a:p>
        </p:txBody>
      </p:sp>
      <p:sp>
        <p:nvSpPr>
          <p:cNvPr id="15" name="Text 13"/>
          <p:cNvSpPr/>
          <p:nvPr/>
        </p:nvSpPr>
        <p:spPr>
          <a:xfrm>
            <a:off x="2148840" y="2578608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27475"/>
                </a:solidFill>
              </a:rPr>
              <a:t>cheap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846320" y="2542032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80" b="1" dirty="0">
                <a:solidFill>
                  <a:srgbClr val="D9A441"/>
                </a:solidFill>
              </a:rPr>
              <a:t>main bottleneck</a:t>
            </a:r>
            <a:endParaRPr lang="en-US" sz="1280" dirty="0"/>
          </a:p>
        </p:txBody>
      </p:sp>
      <p:sp>
        <p:nvSpPr>
          <p:cNvPr id="17" name="Text 15"/>
          <p:cNvSpPr/>
          <p:nvPr/>
        </p:nvSpPr>
        <p:spPr>
          <a:xfrm>
            <a:off x="8229600" y="2578608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27475"/>
                </a:solidFill>
              </a:rPr>
              <a:t>cheap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2606040" y="1234440"/>
            <a:ext cx="2240280" cy="86868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8E5EA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0" y="1444752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Dalzell anchor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Extended side of the transition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Gap argument via tail bound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172200" y="1234440"/>
            <a:ext cx="2514600" cy="86868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2E8B5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27648" y="1399032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Hastings anchor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Localized side of the transition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Gap argument via low-energy density assumption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58368" y="4069080"/>
            <a:ext cx="10972800" cy="16276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68680" y="4169664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0B1F3A"/>
                </a:solidFill>
              </a:rPr>
              <a:t>Research hypothesis</a:t>
            </a:r>
            <a:endParaRPr lang="en-US" sz="1750" dirty="0"/>
          </a:p>
        </p:txBody>
      </p:sp>
      <p:sp>
        <p:nvSpPr>
          <p:cNvPr id="24" name="Text 22"/>
          <p:cNvSpPr/>
          <p:nvPr/>
        </p:nvSpPr>
        <p:spPr>
          <a:xfrm>
            <a:off x="868680" y="4553712"/>
            <a:ext cx="5989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80" dirty="0">
                <a:solidFill>
                  <a:srgbClr val="1F2937"/>
                </a:solidFill>
              </a:rPr>
              <a:t>If |⟨ψ_D|ψ_H⟩| decays exponentially slower than |⟨z*|ψ_D⟩|, then replacing the direct long jump by a bridge between the two anchors should improve the exponent.</a:t>
            </a:r>
            <a:endParaRPr lang="en-US" sz="1580" dirty="0"/>
          </a:p>
        </p:txBody>
      </p:sp>
      <p:sp>
        <p:nvSpPr>
          <p:cNvPr id="25" name="Text 23"/>
          <p:cNvSpPr/>
          <p:nvPr/>
        </p:nvSpPr>
        <p:spPr>
          <a:xfrm>
            <a:off x="7086600" y="4462272"/>
            <a:ext cx="4206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10" dirty="0">
                <a:solidFill>
                  <a:srgbClr val="1F2937"/>
                </a:solidFill>
              </a:rPr>
              <a:t>Why it might help</a:t>
            </a:r>
            <a:endParaRPr lang="en-US" sz="1410" dirty="0"/>
          </a:p>
          <a:p>
            <a:pPr indent="0" marL="0">
              <a:buNone/>
            </a:pPr>
            <a:r>
              <a:rPr lang="en-US" sz="1410" dirty="0">
                <a:solidFill>
                  <a:srgbClr val="1F2937"/>
                </a:solidFill>
              </a:rPr>
              <a:t>ψ_H collects amplitude from a neighborhood around z*, not only from the single optimum string.</a:t>
            </a:r>
            <a:endParaRPr lang="en-US" sz="1410" dirty="0"/>
          </a:p>
          <a:p>
            <a:pPr indent="0" marL="0">
              <a:buNone/>
            </a:pPr>
            <a:r>
              <a:rPr lang="en-US" sz="1410" dirty="0">
                <a:solidFill>
                  <a:srgbClr val="1F2937"/>
                </a:solidFill>
              </a:rPr>
              <a:t>So the middle overlap can benefit from constructive support over many nearby deep-valley states.</a:t>
            </a:r>
            <a:endParaRPr lang="en-US" sz="1410" dirty="0"/>
          </a:p>
        </p:txBody>
      </p:sp>
      <p:sp>
        <p:nvSpPr>
          <p:cNvPr id="26" name="Text 24"/>
          <p:cNvSpPr/>
          <p:nvPr/>
        </p:nvSpPr>
        <p:spPr>
          <a:xfrm>
            <a:off x="621792" y="6254496"/>
            <a:ext cx="10972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20" dirty="0">
                <a:solidFill>
                  <a:srgbClr val="6B7280"/>
                </a:solidFill>
              </a:rPr>
              <a:t>Anchor sources: Dalzell et al. (STOC 2023) for ψ_D and Hastings (Quantum 2, 78, 2018) for ψ_H. This slide proposes their composition as a new research direction.</a:t>
            </a:r>
            <a:endParaRPr lang="en-US" sz="82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Cheap go/no-go experiment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12648" y="80467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575"/>
                </a:solidFill>
              </a:rPr>
              <a:t>Before proving anything, test whether the middle overlap is empirically better on small instances.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749808" y="1371600"/>
            <a:ext cx="4754880" cy="676656"/>
          </a:xfrm>
          <a:prstGeom prst="roundRect">
            <a:avLst/>
          </a:prstGeom>
          <a:solidFill>
            <a:srgbClr val="EAF2FF"/>
          </a:solidFill>
          <a:ln w="15240">
            <a:solidFill>
              <a:srgbClr val="9AB6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554480"/>
            <a:ext cx="44074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1. Generate many small 3-spin / MAX-E-D-LIN2 instances (for example n ≈ 14–22).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49808" y="2249424"/>
            <a:ext cx="4754880" cy="676656"/>
          </a:xfrm>
          <a:prstGeom prst="roundRect">
            <a:avLst/>
          </a:prstGeom>
          <a:solidFill>
            <a:srgbClr val="F2ECF7"/>
          </a:solidFill>
          <a:ln w="15240">
            <a:solidFill>
              <a:srgbClr val="C5AFD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432304"/>
            <a:ext cx="44074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2. Exact diagonalize the Dalzell-style and Hastings-style Hamiltonians for each instance.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49808" y="3127248"/>
            <a:ext cx="4754880" cy="676656"/>
          </a:xfrm>
          <a:prstGeom prst="roundRect">
            <a:avLst/>
          </a:prstGeom>
          <a:solidFill>
            <a:srgbClr val="EAF7EF"/>
          </a:solidFill>
          <a:ln w="15240">
            <a:solidFill>
              <a:srgbClr val="A2D2B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3310128"/>
            <a:ext cx="44074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3. Compute two overlaps:  A(n) = |⟨z*|ψ_D⟩|   and   B(n) = |⟨ψ_D|ψ_H⟩|.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49808" y="4005072"/>
            <a:ext cx="4754880" cy="676656"/>
          </a:xfrm>
          <a:prstGeom prst="roundRect">
            <a:avLst/>
          </a:prstGeom>
          <a:solidFill>
            <a:srgbClr val="FBF5E6"/>
          </a:solidFill>
          <a:ln w="15240">
            <a:solidFill>
              <a:srgbClr val="E2C9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4187952"/>
            <a:ext cx="44074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4. Fit exponential slopes across many instances and compare the medians.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989320" y="1371600"/>
            <a:ext cx="5440680" cy="41605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B1F3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63640" y="16459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1F3A"/>
                </a:solidFill>
              </a:rPr>
              <a:t>Decision rule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263640" y="2029968"/>
            <a:ext cx="4617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F2937"/>
                </a:solidFill>
              </a:rPr>
              <a:t>If B(n) decays slower than A(n), the idea is alive.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1F2937"/>
                </a:solidFill>
              </a:rPr>
              <a:t>If B(n) does not beat A(n), the proposal dies cheaply.</a:t>
            </a:r>
            <a:endParaRPr lang="en-US" sz="1900" dirty="0"/>
          </a:p>
        </p:txBody>
      </p:sp>
      <p:sp>
        <p:nvSpPr>
          <p:cNvPr id="15" name="Shape 13"/>
          <p:cNvSpPr/>
          <p:nvPr/>
        </p:nvSpPr>
        <p:spPr>
          <a:xfrm>
            <a:off x="6263640" y="2907792"/>
            <a:ext cx="4480560" cy="0"/>
          </a:xfrm>
          <a:prstGeom prst="line">
            <a:avLst/>
          </a:prstGeom>
          <a:noFill/>
          <a:ln w="13970">
            <a:solidFill>
              <a:srgbClr val="D6DCE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63640" y="3063240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127475"/>
                </a:solidFill>
              </a:rPr>
              <a:t>Success criterion</a:t>
            </a:r>
            <a:endParaRPr lang="en-US" sz="1750" dirty="0"/>
          </a:p>
        </p:txBody>
      </p:sp>
      <p:sp>
        <p:nvSpPr>
          <p:cNvPr id="17" name="Text 15"/>
          <p:cNvSpPr/>
          <p:nvPr/>
        </p:nvSpPr>
        <p:spPr>
          <a:xfrm>
            <a:off x="6263640" y="3401568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7475"/>
                </a:solidFill>
              </a:rPr>
              <a:t>median slope of log₂ B(n)  &gt;  median slope of log₂ A(n)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263640" y="3913632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40" dirty="0">
                <a:solidFill>
                  <a:srgbClr val="1F2937"/>
                </a:solidFill>
              </a:rPr>
              <a:t>Interpretation</a:t>
            </a:r>
            <a:endParaRPr lang="en-US" sz="1540" dirty="0"/>
          </a:p>
          <a:p>
            <a:pPr indent="0" marL="0">
              <a:buNone/>
            </a:pPr>
            <a:r>
              <a:rPr lang="en-US" sz="1540" dirty="0">
                <a:solidFill>
                  <a:srgbClr val="1F2937"/>
                </a:solidFill>
              </a:rPr>
              <a:t>A positive gap here means the hybrid bridge is empirically easier than the direct Dalzell-to-optimum jump, which is enough to justify deeper theory and larger benchmarking.</a:t>
            </a:r>
            <a:endParaRPr lang="en-US" sz="1540" dirty="0"/>
          </a:p>
        </p:txBody>
      </p:sp>
      <p:sp>
        <p:nvSpPr>
          <p:cNvPr id="19" name="Shape 17"/>
          <p:cNvSpPr/>
          <p:nvPr/>
        </p:nvSpPr>
        <p:spPr>
          <a:xfrm>
            <a:off x="6263640" y="4910328"/>
            <a:ext cx="4572000" cy="411480"/>
          </a:xfrm>
          <a:prstGeom prst="roundRect">
            <a:avLst/>
          </a:prstGeom>
          <a:solidFill>
            <a:srgbClr val="FBF5E6"/>
          </a:solidFill>
          <a:ln w="12700">
            <a:solidFill>
              <a:srgbClr val="D9A44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73952" y="5010912"/>
            <a:ext cx="4160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0B1F3A"/>
                </a:solidFill>
              </a:rPr>
              <a:t>This deck proposes a testable research question, not a theorem.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621792" y="6254496"/>
            <a:ext cx="10972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20" dirty="0">
                <a:solidFill>
                  <a:srgbClr val="6B7280"/>
                </a:solidFill>
              </a:rPr>
              <a:t>Motivation for combination: Dalzell et al. conclude that their speedup mechanism may be worth combining with other techniques; the hybrid Dalzell–Hastings bridge is a natural quantum-side candidate.</a:t>
            </a:r>
            <a:endParaRPr lang="en-US" sz="82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References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12648" y="80467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575"/>
                </a:solidFill>
              </a:rPr>
              <a:t>Core papers behind the proposed hybrid pathway.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777240" y="1325880"/>
            <a:ext cx="1069848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1560" y="1691640"/>
            <a:ext cx="99669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</a:rPr>
              <a:t>[1] Dalzell, A. M., Pancotti, N., Campbell, E. T., and Brandão, F. G. S. L.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</a:rPr>
              <a:t>Mind the Gap: Achieving a Super-Grover Quantum Speedup by Jumping to the End.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</a:rPr>
              <a:t>Proceedings of the 55th Annual ACM Symposium on Theory of Computing (STOC ’23), 2023.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</a:rPr>
              <a:t>arXiv:2212.01513.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024128" y="3090672"/>
            <a:ext cx="9966960" cy="0"/>
          </a:xfrm>
          <a:prstGeom prst="line">
            <a:avLst/>
          </a:prstGeom>
          <a:noFill/>
          <a:ln w="12700">
            <a:solidFill>
              <a:srgbClr val="D6DC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3383280"/>
            <a:ext cx="99669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</a:rPr>
              <a:t>[2] Hastings, M. B.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</a:rPr>
              <a:t>A Short Path Quantum Algorithm for Exact Optimization.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</a:rPr>
              <a:t>Quantum 2, 78 (2018). DOI: 10.22331/q-2018-07-26-78.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</a:rPr>
              <a:t>arXiv:1802.10124.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051560" y="4800600"/>
            <a:ext cx="9464040" cy="713232"/>
          </a:xfrm>
          <a:prstGeom prst="roundRect">
            <a:avLst/>
          </a:prstGeom>
          <a:solidFill>
            <a:srgbClr val="EAF7F9"/>
          </a:solidFill>
          <a:ln w="12700">
            <a:solidFill>
              <a:srgbClr val="12747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61872" y="4983480"/>
            <a:ext cx="9052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B1F3A"/>
                </a:solidFill>
              </a:rPr>
              <a:t>Proposed question for next work: can a Dalzell anchor and a Hastings anchor be chained so that the middle overlap exponent beats the direct Dalzell-to-optimum overlap exponent?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21792" y="6254496"/>
            <a:ext cx="10972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20" dirty="0">
                <a:solidFill>
                  <a:srgbClr val="6B7280"/>
                </a:solidFill>
              </a:rPr>
              <a:t>Reference metadata taken from the papers themselves: Dalzell et al. arXiv/ACM STOC 2023; Hastings, Quantum 2, 78 (2018).</a:t>
            </a:r>
            <a:endParaRPr lang="en-US" sz="82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Hybrid Short-Long-Short Jump Proposal</dc:title>
  <dc:subject>Quantum computing research proposal</dc:subject>
  <dc:creator>OpenAI</dc:creator>
  <cp:lastModifiedBy>OpenAI</cp:lastModifiedBy>
  <cp:revision>1</cp:revision>
  <dcterms:created xsi:type="dcterms:W3CDTF">2026-07-10T09:49:17Z</dcterms:created>
  <dcterms:modified xsi:type="dcterms:W3CDTF">2026-07-10T09:49:17Z</dcterms:modified>
</cp:coreProperties>
</file>